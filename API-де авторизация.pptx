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52733"/>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5486400" cy="8229600"/>
          </a:xfrm>
          <a:prstGeom prst="rect">
            <a:avLst/>
          </a:prstGeom>
        </p:spPr>
      </p:pic>
      <p:sp>
        <p:nvSpPr>
          <p:cNvPr id="3" name="TextBox 2"/>
          <p:cNvSpPr txBox="1"/>
          <p:nvPr/>
        </p:nvSpPr>
        <p:spPr>
          <a:xfrm>
            <a:off x="6273800" y="1524000"/>
            <a:ext cx="7543800" cy="1905000"/>
          </a:xfrm>
          <a:prstGeom prst="rect">
            <a:avLst/>
          </a:prstGeom>
          <a:noFill/>
        </p:spPr>
        <p:txBody>
          <a:bodyPr wrap="square" anchor="b">
            <a:spAutoFit/>
          </a:bodyPr>
          <a:lstStyle/>
          <a:p>
            <a:pPr algn="l">
              <a:defRPr sz="4400" b="1" i="0">
                <a:solidFill>
                  <a:srgbClr val="F98AC7"/>
                </a:solidFill>
                <a:latin typeface="Lora"/>
              </a:defRPr>
            </a:pPr>
            <a:r>
              <a:t>API-ге кіріспе</a:t>
            </a:r>
          </a:p>
        </p:txBody>
      </p:sp>
      <p:sp>
        <p:nvSpPr>
          <p:cNvPr id="4" name="TextBox 3"/>
          <p:cNvSpPr txBox="1"/>
          <p:nvPr/>
        </p:nvSpPr>
        <p:spPr>
          <a:xfrm>
            <a:off x="6273800" y="3937000"/>
            <a:ext cx="7543800" cy="1803400"/>
          </a:xfrm>
          <a:prstGeom prst="rect">
            <a:avLst/>
          </a:prstGeom>
          <a:noFill/>
        </p:spPr>
        <p:txBody>
          <a:bodyPr wrap="square" anchor="t">
            <a:spAutoFit/>
          </a:bodyPr>
          <a:lstStyle/>
          <a:p>
            <a:pPr algn="l">
              <a:defRPr sz="1800" b="0" i="0">
                <a:solidFill>
                  <a:srgbClr val="D6E5EF"/>
                </a:solidFill>
                <a:latin typeface="Source Sans Pro"/>
              </a:defRPr>
            </a:pPr>
            <a:r>
              <a:t>API (Application Programming Interface) — бұл бағдарламалар арасындағы өзара әрекеттесуді қамтамасыз ететін хаттамалар мен құралдар жиынтығы. API-лер әртүрлі жүйелер мен қызметтер арасындағы деректер мен функцияларды бөлісуге мүмкіндік береді, бұл тиімді интеграция мен дамуды жеңілдетеді. Мысалы, ауа райын болжау API-і басқа қолданбаларға ауа райы туралы ақпаратты сенімді түрде алуға мүмкіндік береді, бұл пайдаланушыларға нақты уақыттағы мәліметтерді ұсынады.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52733"/>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9144000" y="0"/>
            <a:ext cx="5486400" cy="8229600"/>
          </a:xfrm>
          <a:prstGeom prst="rect">
            <a:avLst/>
          </a:prstGeom>
        </p:spPr>
      </p:pic>
      <p:sp>
        <p:nvSpPr>
          <p:cNvPr id="3" name="TextBox 2"/>
          <p:cNvSpPr txBox="1"/>
          <p:nvPr/>
        </p:nvSpPr>
        <p:spPr>
          <a:xfrm>
            <a:off x="762000" y="0"/>
            <a:ext cx="7543800" cy="2120900"/>
          </a:xfrm>
          <a:prstGeom prst="rect">
            <a:avLst/>
          </a:prstGeom>
          <a:noFill/>
        </p:spPr>
        <p:txBody>
          <a:bodyPr wrap="square" anchor="b">
            <a:spAutoFit/>
          </a:bodyPr>
          <a:lstStyle/>
          <a:p>
            <a:pPr algn="l">
              <a:defRPr sz="4400" b="1" i="0">
                <a:solidFill>
                  <a:srgbClr val="F98AC7"/>
                </a:solidFill>
                <a:latin typeface="Lora"/>
              </a:defRPr>
            </a:pPr>
            <a:r>
              <a:t>Авторизация</a:t>
            </a:r>
          </a:p>
        </p:txBody>
      </p:sp>
      <p:sp>
        <p:nvSpPr>
          <p:cNvPr id="4" name="Rounded Rectangle 3"/>
          <p:cNvSpPr/>
          <p:nvPr/>
        </p:nvSpPr>
        <p:spPr>
          <a:xfrm>
            <a:off x="762000" y="2413000"/>
            <a:ext cx="7543800" cy="1143000"/>
          </a:xfrm>
          <a:prstGeom prst="roundRect">
            <a:avLst>
              <a:gd name="adj" fmla="val 3000"/>
            </a:avLst>
          </a:prstGeom>
          <a:solidFill>
            <a:srgbClr val="444652"/>
          </a:solidFill>
          <a:ln w="12700">
            <a:solidFill>
              <a:srgbClr val="5D6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5500" y="2540000"/>
            <a:ext cx="6985000" cy="381000"/>
          </a:xfrm>
          <a:prstGeom prst="rect">
            <a:avLst/>
          </a:prstGeom>
          <a:noFill/>
        </p:spPr>
        <p:txBody>
          <a:bodyPr wrap="square" anchor="t">
            <a:spAutoFit/>
          </a:bodyPr>
          <a:lstStyle/>
          <a:p>
            <a:pPr algn="l">
              <a:defRPr sz="2200" b="1" i="0">
                <a:solidFill>
                  <a:srgbClr val="D6E5EF"/>
                </a:solidFill>
                <a:latin typeface="Lora"/>
              </a:defRPr>
            </a:pPr>
            <a:r>
              <a:t>Негізгі анықтама</a:t>
            </a:r>
          </a:p>
        </p:txBody>
      </p:sp>
      <p:sp>
        <p:nvSpPr>
          <p:cNvPr id="6" name="TextBox 5"/>
          <p:cNvSpPr txBox="1"/>
          <p:nvPr/>
        </p:nvSpPr>
        <p:spPr>
          <a:xfrm>
            <a:off x="825500" y="2921000"/>
            <a:ext cx="7493000" cy="381000"/>
          </a:xfrm>
          <a:prstGeom prst="rect">
            <a:avLst/>
          </a:prstGeom>
          <a:noFill/>
        </p:spPr>
        <p:txBody>
          <a:bodyPr wrap="square" anchor="t">
            <a:spAutoFit/>
          </a:bodyPr>
          <a:lstStyle/>
          <a:p>
            <a:pPr algn="l">
              <a:defRPr sz="1800" b="0" i="0">
                <a:solidFill>
                  <a:srgbClr val="D6E5EF"/>
                </a:solidFill>
                <a:latin typeface="Source Sans Pro"/>
              </a:defRPr>
            </a:pPr>
            <a:r>
              <a:t>Авторизация — бұл белгілі бір ресурстарға қол жеткізуді растау процесі.</a:t>
            </a:r>
          </a:p>
        </p:txBody>
      </p:sp>
      <p:sp>
        <p:nvSpPr>
          <p:cNvPr id="7" name="Rounded Rectangle 6"/>
          <p:cNvSpPr/>
          <p:nvPr/>
        </p:nvSpPr>
        <p:spPr>
          <a:xfrm>
            <a:off x="762000" y="4000500"/>
            <a:ext cx="7543800" cy="1143000"/>
          </a:xfrm>
          <a:prstGeom prst="roundRect">
            <a:avLst>
              <a:gd name="adj" fmla="val 3000"/>
            </a:avLst>
          </a:prstGeom>
          <a:solidFill>
            <a:srgbClr val="444652"/>
          </a:solidFill>
          <a:ln w="12700">
            <a:solidFill>
              <a:srgbClr val="5D6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5500" y="4127500"/>
            <a:ext cx="6985000" cy="381000"/>
          </a:xfrm>
          <a:prstGeom prst="rect">
            <a:avLst/>
          </a:prstGeom>
          <a:noFill/>
        </p:spPr>
        <p:txBody>
          <a:bodyPr wrap="square" anchor="t">
            <a:spAutoFit/>
          </a:bodyPr>
          <a:lstStyle/>
          <a:p>
            <a:pPr algn="l">
              <a:defRPr sz="2200" b="1" i="0">
                <a:solidFill>
                  <a:srgbClr val="D6E5EF"/>
                </a:solidFill>
                <a:latin typeface="Lora"/>
              </a:defRPr>
            </a:pPr>
            <a:r>
              <a:t>Процесс</a:t>
            </a:r>
          </a:p>
        </p:txBody>
      </p:sp>
      <p:sp>
        <p:nvSpPr>
          <p:cNvPr id="9" name="TextBox 8"/>
          <p:cNvSpPr txBox="1"/>
          <p:nvPr/>
        </p:nvSpPr>
        <p:spPr>
          <a:xfrm>
            <a:off x="825500" y="4508500"/>
            <a:ext cx="7493000" cy="381000"/>
          </a:xfrm>
          <a:prstGeom prst="rect">
            <a:avLst/>
          </a:prstGeom>
          <a:noFill/>
        </p:spPr>
        <p:txBody>
          <a:bodyPr wrap="square" anchor="t">
            <a:spAutoFit/>
          </a:bodyPr>
          <a:lstStyle/>
          <a:p>
            <a:pPr algn="l">
              <a:defRPr sz="1800" b="0" i="0">
                <a:solidFill>
                  <a:srgbClr val="D6E5EF"/>
                </a:solidFill>
                <a:latin typeface="Source Sans Pro"/>
              </a:defRPr>
            </a:pPr>
            <a:r>
              <a:t>Пайдаланушының кім екенін анықтап, рұқсат етілген әрекеттерді белгілейді.</a:t>
            </a:r>
          </a:p>
        </p:txBody>
      </p:sp>
      <p:sp>
        <p:nvSpPr>
          <p:cNvPr id="10" name="Rounded Rectangle 9"/>
          <p:cNvSpPr/>
          <p:nvPr/>
        </p:nvSpPr>
        <p:spPr>
          <a:xfrm>
            <a:off x="762000" y="5588000"/>
            <a:ext cx="7543800" cy="1143000"/>
          </a:xfrm>
          <a:prstGeom prst="roundRect">
            <a:avLst>
              <a:gd name="adj" fmla="val 3000"/>
            </a:avLst>
          </a:prstGeom>
          <a:solidFill>
            <a:srgbClr val="444652"/>
          </a:solidFill>
          <a:ln w="12700">
            <a:solidFill>
              <a:srgbClr val="5D6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5500" y="5715000"/>
            <a:ext cx="6985000" cy="381000"/>
          </a:xfrm>
          <a:prstGeom prst="rect">
            <a:avLst/>
          </a:prstGeom>
          <a:noFill/>
        </p:spPr>
        <p:txBody>
          <a:bodyPr wrap="square" anchor="t">
            <a:spAutoFit/>
          </a:bodyPr>
          <a:lstStyle/>
          <a:p>
            <a:pPr algn="l">
              <a:defRPr sz="2200" b="1" i="0">
                <a:solidFill>
                  <a:srgbClr val="D6E5EF"/>
                </a:solidFill>
                <a:latin typeface="Lora"/>
              </a:defRPr>
            </a:pPr>
            <a:r>
              <a:t>Мысал</a:t>
            </a:r>
          </a:p>
        </p:txBody>
      </p:sp>
      <p:sp>
        <p:nvSpPr>
          <p:cNvPr id="12" name="TextBox 11"/>
          <p:cNvSpPr txBox="1"/>
          <p:nvPr/>
        </p:nvSpPr>
        <p:spPr>
          <a:xfrm>
            <a:off x="825500" y="6096000"/>
            <a:ext cx="7493000" cy="381000"/>
          </a:xfrm>
          <a:prstGeom prst="rect">
            <a:avLst/>
          </a:prstGeom>
          <a:noFill/>
        </p:spPr>
        <p:txBody>
          <a:bodyPr wrap="square" anchor="t">
            <a:spAutoFit/>
          </a:bodyPr>
          <a:lstStyle/>
          <a:p>
            <a:pPr algn="l">
              <a:defRPr sz="1800" b="0" i="0">
                <a:solidFill>
                  <a:srgbClr val="D6E5EF"/>
                </a:solidFill>
                <a:latin typeface="Source Sans Pro"/>
              </a:defRPr>
            </a:pPr>
            <a:r>
              <a:t>Банк қолданбасындағы шотты қарау үшін авторизация қажет.</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52733"/>
        </a:solidFill>
        <a:effectLst/>
      </p:bgPr>
    </p:bg>
    <p:spTree>
      <p:nvGrpSpPr>
        <p:cNvPr id="1" name=""/>
        <p:cNvGrpSpPr/>
        <p:nvPr/>
      </p:nvGrpSpPr>
      <p:grpSpPr/>
      <p:sp>
        <p:nvSpPr>
          <p:cNvPr id="2" name="TextBox 1"/>
          <p:cNvSpPr txBox="1"/>
          <p:nvPr/>
        </p:nvSpPr>
        <p:spPr>
          <a:xfrm>
            <a:off x="889000" y="977900"/>
            <a:ext cx="12700000" cy="762000"/>
          </a:xfrm>
          <a:prstGeom prst="rect">
            <a:avLst/>
          </a:prstGeom>
          <a:noFill/>
        </p:spPr>
        <p:txBody>
          <a:bodyPr wrap="square" anchor="t">
            <a:spAutoFit/>
          </a:bodyPr>
          <a:lstStyle/>
          <a:p>
            <a:pPr algn="l">
              <a:defRPr sz="4400" b="1" i="0">
                <a:solidFill>
                  <a:srgbClr val="F98AC7"/>
                </a:solidFill>
                <a:latin typeface="Lora"/>
              </a:defRPr>
            </a:pPr>
            <a:r>
              <a:t>API авторизациясының маңызы</a:t>
            </a:r>
          </a:p>
        </p:txBody>
      </p:sp>
      <p:sp>
        <p:nvSpPr>
          <p:cNvPr id="3" name="Rounded Rectangle 2"/>
          <p:cNvSpPr/>
          <p:nvPr/>
        </p:nvSpPr>
        <p:spPr>
          <a:xfrm>
            <a:off x="1079500" y="4502150"/>
            <a:ext cx="12992100" cy="12700"/>
          </a:xfrm>
          <a:prstGeom prst="roundRect">
            <a:avLst>
              <a:gd name="adj" fmla="val 50000"/>
            </a:avLst>
          </a:prstGeom>
          <a:solidFill>
            <a:srgbClr val="5D6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146550" y="4038600"/>
            <a:ext cx="12700" cy="317500"/>
          </a:xfrm>
          <a:prstGeom prst="roundRect">
            <a:avLst>
              <a:gd name="adj" fmla="val 50000"/>
            </a:avLst>
          </a:prstGeom>
          <a:solidFill>
            <a:srgbClr val="5D6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34250" y="4660900"/>
            <a:ext cx="12700" cy="317500"/>
          </a:xfrm>
          <a:prstGeom prst="roundRect">
            <a:avLst>
              <a:gd name="adj" fmla="val 50000"/>
            </a:avLst>
          </a:prstGeom>
          <a:solidFill>
            <a:srgbClr val="5D6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509250" y="4038600"/>
            <a:ext cx="12700" cy="317500"/>
          </a:xfrm>
          <a:prstGeom prst="roundRect">
            <a:avLst>
              <a:gd name="adj" fmla="val 50000"/>
            </a:avLst>
          </a:prstGeom>
          <a:solidFill>
            <a:srgbClr val="5D6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937000" y="4292600"/>
            <a:ext cx="431800" cy="431800"/>
          </a:xfrm>
          <a:prstGeom prst="roundRect">
            <a:avLst>
              <a:gd name="adj" fmla="val 3000"/>
            </a:avLst>
          </a:prstGeom>
          <a:solidFill>
            <a:srgbClr val="444652"/>
          </a:solidFill>
          <a:ln w="12700">
            <a:solidFill>
              <a:srgbClr val="4446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124700" y="4292600"/>
            <a:ext cx="431800" cy="431800"/>
          </a:xfrm>
          <a:prstGeom prst="roundRect">
            <a:avLst>
              <a:gd name="adj" fmla="val 3000"/>
            </a:avLst>
          </a:prstGeom>
          <a:solidFill>
            <a:srgbClr val="444652"/>
          </a:solidFill>
          <a:ln w="12700">
            <a:solidFill>
              <a:srgbClr val="4446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299700" y="4292600"/>
            <a:ext cx="431800" cy="431800"/>
          </a:xfrm>
          <a:prstGeom prst="roundRect">
            <a:avLst>
              <a:gd name="adj" fmla="val 3000"/>
            </a:avLst>
          </a:prstGeom>
          <a:solidFill>
            <a:srgbClr val="444652"/>
          </a:solidFill>
          <a:ln w="12700">
            <a:solidFill>
              <a:srgbClr val="4446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1400" y="2095500"/>
            <a:ext cx="6083300" cy="431800"/>
          </a:xfrm>
          <a:prstGeom prst="rect">
            <a:avLst/>
          </a:prstGeom>
          <a:noFill/>
        </p:spPr>
        <p:txBody>
          <a:bodyPr wrap="square" anchor="t">
            <a:spAutoFit/>
          </a:bodyPr>
          <a:lstStyle/>
          <a:p>
            <a:pPr algn="ctr">
              <a:defRPr sz="2200" b="1" i="0">
                <a:solidFill>
                  <a:srgbClr val="D6E5EF"/>
                </a:solidFill>
                <a:latin typeface="Lora"/>
              </a:defRPr>
            </a:pPr>
            <a:r>
              <a:t>Қауіпсіздік</a:t>
            </a:r>
          </a:p>
        </p:txBody>
      </p:sp>
      <p:sp>
        <p:nvSpPr>
          <p:cNvPr id="11" name="TextBox 10"/>
          <p:cNvSpPr txBox="1"/>
          <p:nvPr/>
        </p:nvSpPr>
        <p:spPr>
          <a:xfrm>
            <a:off x="1041400" y="2730500"/>
            <a:ext cx="6083300" cy="1143000"/>
          </a:xfrm>
          <a:prstGeom prst="rect">
            <a:avLst/>
          </a:prstGeom>
          <a:noFill/>
        </p:spPr>
        <p:txBody>
          <a:bodyPr wrap="square" anchor="t">
            <a:spAutoFit/>
          </a:bodyPr>
          <a:lstStyle/>
          <a:p>
            <a:pPr algn="ctr">
              <a:defRPr sz="1800" b="0" i="0">
                <a:solidFill>
                  <a:srgbClr val="D6E5EF"/>
                </a:solidFill>
                <a:latin typeface="Source Sans Pro"/>
              </a:defRPr>
            </a:pPr>
            <a:r>
              <a:t>API авторизациясы деректердің қауіпсіздігін қамтамасыз етеді, рұқсатсыз қол жеткізуді болдырмайды. Бұл деректердің құпиялылығы мен тұтастығын сақтауға көмектеседі.</a:t>
            </a:r>
          </a:p>
        </p:txBody>
      </p:sp>
      <p:pic>
        <p:nvPicPr>
          <p:cNvPr id="12" name="Picture 11" descr="image.png"/>
          <p:cNvPicPr>
            <a:picLocks noChangeAspect="1"/>
          </p:cNvPicPr>
          <p:nvPr/>
        </p:nvPicPr>
        <p:blipFill>
          <a:blip r:embed="rId2"/>
          <a:stretch>
            <a:fillRect/>
          </a:stretch>
        </p:blipFill>
        <p:spPr>
          <a:xfrm>
            <a:off x="4025900" y="4381500"/>
            <a:ext cx="254000" cy="254000"/>
          </a:xfrm>
          <a:prstGeom prst="rect">
            <a:avLst/>
          </a:prstGeom>
        </p:spPr>
      </p:pic>
      <p:sp>
        <p:nvSpPr>
          <p:cNvPr id="13" name="TextBox 12"/>
          <p:cNvSpPr txBox="1"/>
          <p:nvPr/>
        </p:nvSpPr>
        <p:spPr>
          <a:xfrm>
            <a:off x="4267200" y="5207000"/>
            <a:ext cx="6083300" cy="431800"/>
          </a:xfrm>
          <a:prstGeom prst="rect">
            <a:avLst/>
          </a:prstGeom>
          <a:noFill/>
        </p:spPr>
        <p:txBody>
          <a:bodyPr wrap="square" anchor="t">
            <a:spAutoFit/>
          </a:bodyPr>
          <a:lstStyle/>
          <a:p>
            <a:pPr algn="ctr">
              <a:defRPr sz="2200" b="1" i="0">
                <a:solidFill>
                  <a:srgbClr val="D6E5EF"/>
                </a:solidFill>
                <a:latin typeface="Lora"/>
              </a:defRPr>
            </a:pPr>
            <a:r>
              <a:t>Сенімділік</a:t>
            </a:r>
          </a:p>
        </p:txBody>
      </p:sp>
      <p:sp>
        <p:nvSpPr>
          <p:cNvPr id="14" name="TextBox 13"/>
          <p:cNvSpPr txBox="1"/>
          <p:nvPr/>
        </p:nvSpPr>
        <p:spPr>
          <a:xfrm>
            <a:off x="4267200" y="5727700"/>
            <a:ext cx="6083300" cy="1143000"/>
          </a:xfrm>
          <a:prstGeom prst="rect">
            <a:avLst/>
          </a:prstGeom>
          <a:noFill/>
        </p:spPr>
        <p:txBody>
          <a:bodyPr wrap="square" anchor="t">
            <a:spAutoFit/>
          </a:bodyPr>
          <a:lstStyle/>
          <a:p>
            <a:pPr algn="ctr">
              <a:defRPr sz="1800" b="0" i="0">
                <a:solidFill>
                  <a:srgbClr val="D6E5EF"/>
                </a:solidFill>
                <a:latin typeface="Source Sans Pro"/>
              </a:defRPr>
            </a:pPr>
            <a:r>
              <a:t>Клиенттер мен әзірлеушілерге сенімді және бақыланатын API қызметтерін ұсынуға мүмкіндік береді. Бұл бизнеске деген сенімді арттырады.</a:t>
            </a:r>
          </a:p>
        </p:txBody>
      </p:sp>
      <p:pic>
        <p:nvPicPr>
          <p:cNvPr id="15" name="Picture 14" descr="image.png"/>
          <p:cNvPicPr>
            <a:picLocks noChangeAspect="1"/>
          </p:cNvPicPr>
          <p:nvPr/>
        </p:nvPicPr>
        <p:blipFill>
          <a:blip r:embed="rId3"/>
          <a:stretch>
            <a:fillRect/>
          </a:stretch>
        </p:blipFill>
        <p:spPr>
          <a:xfrm>
            <a:off x="7213600" y="4381500"/>
            <a:ext cx="254000" cy="254000"/>
          </a:xfrm>
          <a:prstGeom prst="rect">
            <a:avLst/>
          </a:prstGeom>
        </p:spPr>
      </p:pic>
      <p:sp>
        <p:nvSpPr>
          <p:cNvPr id="16" name="TextBox 15"/>
          <p:cNvSpPr txBox="1"/>
          <p:nvPr/>
        </p:nvSpPr>
        <p:spPr>
          <a:xfrm>
            <a:off x="7505700" y="2120900"/>
            <a:ext cx="6083300" cy="431800"/>
          </a:xfrm>
          <a:prstGeom prst="rect">
            <a:avLst/>
          </a:prstGeom>
          <a:noFill/>
        </p:spPr>
        <p:txBody>
          <a:bodyPr wrap="square" anchor="t">
            <a:spAutoFit/>
          </a:bodyPr>
          <a:lstStyle/>
          <a:p>
            <a:pPr algn="ctr">
              <a:defRPr sz="2200" b="1" i="0">
                <a:solidFill>
                  <a:srgbClr val="D6E5EF"/>
                </a:solidFill>
                <a:latin typeface="Lora"/>
              </a:defRPr>
            </a:pPr>
            <a:r>
              <a:t>Бақылау</a:t>
            </a:r>
          </a:p>
        </p:txBody>
      </p:sp>
      <p:sp>
        <p:nvSpPr>
          <p:cNvPr id="17" name="TextBox 16"/>
          <p:cNvSpPr txBox="1"/>
          <p:nvPr/>
        </p:nvSpPr>
        <p:spPr>
          <a:xfrm>
            <a:off x="7505700" y="2730500"/>
            <a:ext cx="6083300" cy="1143000"/>
          </a:xfrm>
          <a:prstGeom prst="rect">
            <a:avLst/>
          </a:prstGeom>
          <a:noFill/>
        </p:spPr>
        <p:txBody>
          <a:bodyPr wrap="square" anchor="t">
            <a:spAutoFit/>
          </a:bodyPr>
          <a:lstStyle/>
          <a:p>
            <a:pPr algn="ctr">
              <a:defRPr sz="1800" b="0" i="0">
                <a:solidFill>
                  <a:srgbClr val="D6E5EF"/>
                </a:solidFill>
                <a:latin typeface="Source Sans Pro"/>
              </a:defRPr>
            </a:pPr>
            <a:r>
              <a:t>API кіруді басқаруға және кім, қашан, қандай ресурстарға қол жеткізгенін бақылауға мүмкіндік береді. Бұл аудит және реттеу үшін маңызды.</a:t>
            </a:r>
          </a:p>
        </p:txBody>
      </p:sp>
      <p:pic>
        <p:nvPicPr>
          <p:cNvPr id="18" name="Picture 17" descr="image.png"/>
          <p:cNvPicPr>
            <a:picLocks noChangeAspect="1"/>
          </p:cNvPicPr>
          <p:nvPr/>
        </p:nvPicPr>
        <p:blipFill>
          <a:blip r:embed="rId4"/>
          <a:stretch>
            <a:fillRect/>
          </a:stretch>
        </p:blipFill>
        <p:spPr>
          <a:xfrm>
            <a:off x="10388600" y="4381500"/>
            <a:ext cx="254000" cy="254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52733"/>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4630400" cy="3302000"/>
          </a:xfrm>
          <a:prstGeom prst="rect">
            <a:avLst/>
          </a:prstGeom>
        </p:spPr>
      </p:pic>
      <p:sp>
        <p:nvSpPr>
          <p:cNvPr id="3" name="TextBox 2"/>
          <p:cNvSpPr txBox="1"/>
          <p:nvPr/>
        </p:nvSpPr>
        <p:spPr>
          <a:xfrm>
            <a:off x="1270000" y="3429000"/>
            <a:ext cx="11430000" cy="1270000"/>
          </a:xfrm>
          <a:prstGeom prst="rect">
            <a:avLst/>
          </a:prstGeom>
          <a:noFill/>
        </p:spPr>
        <p:txBody>
          <a:bodyPr wrap="square" anchor="b">
            <a:spAutoFit/>
          </a:bodyPr>
          <a:lstStyle/>
          <a:p>
            <a:pPr algn="l">
              <a:defRPr sz="4400" b="1" i="0">
                <a:solidFill>
                  <a:srgbClr val="F98AC7"/>
                </a:solidFill>
                <a:latin typeface="Lora"/>
              </a:defRPr>
            </a:pPr>
            <a:r>
              <a:t>Жалпы авторизация әдістері</a:t>
            </a:r>
          </a:p>
        </p:txBody>
      </p:sp>
      <p:sp>
        <p:nvSpPr>
          <p:cNvPr id="4" name="Rounded Rectangle 3"/>
          <p:cNvSpPr/>
          <p:nvPr/>
        </p:nvSpPr>
        <p:spPr>
          <a:xfrm>
            <a:off x="1270000" y="5080000"/>
            <a:ext cx="3657600" cy="2413000"/>
          </a:xfrm>
          <a:prstGeom prst="roundRect">
            <a:avLst>
              <a:gd name="adj" fmla="val 3000"/>
            </a:avLst>
          </a:prstGeom>
          <a:solidFill>
            <a:srgbClr val="444652"/>
          </a:solidFill>
          <a:ln w="12700">
            <a:solidFill>
              <a:srgbClr val="5D6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308600" y="5080000"/>
            <a:ext cx="3657600" cy="2413000"/>
          </a:xfrm>
          <a:prstGeom prst="roundRect">
            <a:avLst>
              <a:gd name="adj" fmla="val 3000"/>
            </a:avLst>
          </a:prstGeom>
          <a:solidFill>
            <a:srgbClr val="444652"/>
          </a:solidFill>
          <a:ln w="12700">
            <a:solidFill>
              <a:srgbClr val="5D6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347200" y="5080000"/>
            <a:ext cx="3657600" cy="2413000"/>
          </a:xfrm>
          <a:prstGeom prst="roundRect">
            <a:avLst>
              <a:gd name="adj" fmla="val 3000"/>
            </a:avLst>
          </a:prstGeom>
          <a:solidFill>
            <a:srgbClr val="444652"/>
          </a:solidFill>
          <a:ln w="12700">
            <a:solidFill>
              <a:srgbClr val="5D6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97000" y="5143500"/>
            <a:ext cx="3530600" cy="635000"/>
          </a:xfrm>
          <a:prstGeom prst="rect">
            <a:avLst/>
          </a:prstGeom>
          <a:noFill/>
        </p:spPr>
        <p:txBody>
          <a:bodyPr wrap="square" anchor="ctr">
            <a:spAutoFit/>
          </a:bodyPr>
          <a:lstStyle/>
          <a:p>
            <a:pPr algn="l">
              <a:defRPr sz="2200" b="1" i="0">
                <a:solidFill>
                  <a:srgbClr val="D6E5EF"/>
                </a:solidFill>
                <a:latin typeface="Lora"/>
              </a:defRPr>
            </a:pPr>
            <a:r>
              <a:t>API кілттері</a:t>
            </a:r>
          </a:p>
        </p:txBody>
      </p:sp>
      <p:sp>
        <p:nvSpPr>
          <p:cNvPr id="8" name="TextBox 7"/>
          <p:cNvSpPr txBox="1"/>
          <p:nvPr/>
        </p:nvSpPr>
        <p:spPr>
          <a:xfrm>
            <a:off x="1397000" y="5842000"/>
            <a:ext cx="3530600" cy="1143000"/>
          </a:xfrm>
          <a:prstGeom prst="rect">
            <a:avLst/>
          </a:prstGeom>
          <a:noFill/>
        </p:spPr>
        <p:txBody>
          <a:bodyPr wrap="square" anchor="t">
            <a:spAutoFit/>
          </a:bodyPr>
          <a:lstStyle/>
          <a:p>
            <a:pPr algn="l">
              <a:defRPr sz="1800" b="0" i="0">
                <a:solidFill>
                  <a:srgbClr val="D6E5EF"/>
                </a:solidFill>
                <a:latin typeface="Source Sans Pro"/>
              </a:defRPr>
            </a:pPr>
            <a:r>
              <a:t>Пайдаланушыға немесе қолданбаға арнайы идентификатор беріледі. Бұл API кіруді бақылаудың қарапайым әдісі.</a:t>
            </a:r>
          </a:p>
        </p:txBody>
      </p:sp>
      <p:sp>
        <p:nvSpPr>
          <p:cNvPr id="9" name="TextBox 8"/>
          <p:cNvSpPr txBox="1"/>
          <p:nvPr/>
        </p:nvSpPr>
        <p:spPr>
          <a:xfrm>
            <a:off x="5435600" y="5143500"/>
            <a:ext cx="3530600" cy="635000"/>
          </a:xfrm>
          <a:prstGeom prst="rect">
            <a:avLst/>
          </a:prstGeom>
          <a:noFill/>
        </p:spPr>
        <p:txBody>
          <a:bodyPr wrap="square" anchor="ctr">
            <a:spAutoFit/>
          </a:bodyPr>
          <a:lstStyle/>
          <a:p>
            <a:pPr algn="l">
              <a:defRPr sz="2200" b="1" i="0">
                <a:solidFill>
                  <a:srgbClr val="D6E5EF"/>
                </a:solidFill>
                <a:latin typeface="Lora"/>
              </a:defRPr>
            </a:pPr>
            <a:r>
              <a:t>OAuth</a:t>
            </a:r>
          </a:p>
        </p:txBody>
      </p:sp>
      <p:sp>
        <p:nvSpPr>
          <p:cNvPr id="10" name="TextBox 9"/>
          <p:cNvSpPr txBox="1"/>
          <p:nvPr/>
        </p:nvSpPr>
        <p:spPr>
          <a:xfrm>
            <a:off x="5435600" y="5842000"/>
            <a:ext cx="3530600" cy="1143000"/>
          </a:xfrm>
          <a:prstGeom prst="rect">
            <a:avLst/>
          </a:prstGeom>
          <a:noFill/>
        </p:spPr>
        <p:txBody>
          <a:bodyPr wrap="square" anchor="t">
            <a:spAutoFit/>
          </a:bodyPr>
          <a:lstStyle/>
          <a:p>
            <a:pPr algn="l">
              <a:defRPr sz="1800" b="0" i="0">
                <a:solidFill>
                  <a:srgbClr val="D6E5EF"/>
                </a:solidFill>
                <a:latin typeface="Source Sans Pro"/>
              </a:defRPr>
            </a:pPr>
            <a:r>
              <a:t>Пайдаланушының жеке деректерін ұсынбай, үшінші тарап қолданбаларына ресурстарға рұқсат беруге мүмкіндік береді. Иелік ету моделіне негізделген.</a:t>
            </a:r>
          </a:p>
        </p:txBody>
      </p:sp>
      <p:sp>
        <p:nvSpPr>
          <p:cNvPr id="11" name="TextBox 10"/>
          <p:cNvSpPr txBox="1"/>
          <p:nvPr/>
        </p:nvSpPr>
        <p:spPr>
          <a:xfrm>
            <a:off x="9474200" y="5143500"/>
            <a:ext cx="3530600" cy="635000"/>
          </a:xfrm>
          <a:prstGeom prst="rect">
            <a:avLst/>
          </a:prstGeom>
          <a:noFill/>
        </p:spPr>
        <p:txBody>
          <a:bodyPr wrap="square" anchor="ctr">
            <a:spAutoFit/>
          </a:bodyPr>
          <a:lstStyle/>
          <a:p>
            <a:pPr algn="l">
              <a:defRPr sz="2200" b="1" i="0">
                <a:solidFill>
                  <a:srgbClr val="D6E5EF"/>
                </a:solidFill>
                <a:latin typeface="Lora"/>
              </a:defRPr>
            </a:pPr>
            <a:r>
              <a:t>JWT</a:t>
            </a:r>
          </a:p>
        </p:txBody>
      </p:sp>
      <p:sp>
        <p:nvSpPr>
          <p:cNvPr id="12" name="TextBox 11"/>
          <p:cNvSpPr txBox="1"/>
          <p:nvPr/>
        </p:nvSpPr>
        <p:spPr>
          <a:xfrm>
            <a:off x="9474200" y="5842000"/>
            <a:ext cx="3530600" cy="1143000"/>
          </a:xfrm>
          <a:prstGeom prst="rect">
            <a:avLst/>
          </a:prstGeom>
          <a:noFill/>
        </p:spPr>
        <p:txBody>
          <a:bodyPr wrap="square" anchor="t">
            <a:spAutoFit/>
          </a:bodyPr>
          <a:lstStyle/>
          <a:p>
            <a:pPr algn="l">
              <a:defRPr sz="1800" b="0" i="0">
                <a:solidFill>
                  <a:srgbClr val="D6E5EF"/>
                </a:solidFill>
                <a:latin typeface="Source Sans Pro"/>
              </a:defRPr>
            </a:pPr>
            <a:r>
              <a:t>Сервер мен клиент арасында ақпаратты сенімді түрде беруге арналған компактты, URL-мен жазылатын тәсіл. Деректердің бүтіндігін қамтамасыз етеді.</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52733"/>
        </a:solidFill>
        <a:effectLst/>
      </p:bgPr>
    </p:bg>
    <p:spTree>
      <p:nvGrpSpPr>
        <p:cNvPr id="1" name=""/>
        <p:cNvGrpSpPr/>
        <p:nvPr/>
      </p:nvGrpSpPr>
      <p:grpSpPr/>
      <p:sp>
        <p:nvSpPr>
          <p:cNvPr id="2" name="TextBox 1"/>
          <p:cNvSpPr txBox="1"/>
          <p:nvPr/>
        </p:nvSpPr>
        <p:spPr>
          <a:xfrm>
            <a:off x="762000" y="1270000"/>
            <a:ext cx="12700000" cy="1143000"/>
          </a:xfrm>
          <a:prstGeom prst="rect">
            <a:avLst/>
          </a:prstGeom>
          <a:noFill/>
        </p:spPr>
        <p:txBody>
          <a:bodyPr wrap="square" anchor="t">
            <a:spAutoFit/>
          </a:bodyPr>
          <a:lstStyle/>
          <a:p>
            <a:pPr algn="l">
              <a:defRPr sz="4400" b="1" i="0">
                <a:solidFill>
                  <a:srgbClr val="F98AC7"/>
                </a:solidFill>
                <a:latin typeface="Lora"/>
              </a:defRPr>
            </a:pPr>
            <a:r>
              <a:t>API кілттері</a:t>
            </a:r>
          </a:p>
        </p:txBody>
      </p:sp>
      <p:pic>
        <p:nvPicPr>
          <p:cNvPr id="3" name="Picture 2" descr="image.png"/>
          <p:cNvPicPr>
            <a:picLocks noChangeAspect="1"/>
          </p:cNvPicPr>
          <p:nvPr/>
        </p:nvPicPr>
        <p:blipFill>
          <a:blip r:embed="rId2"/>
          <a:stretch>
            <a:fillRect/>
          </a:stretch>
        </p:blipFill>
        <p:spPr>
          <a:xfrm>
            <a:off x="5156200" y="2540000"/>
            <a:ext cx="4318000" cy="4318000"/>
          </a:xfrm>
          <a:prstGeom prst="rect">
            <a:avLst/>
          </a:prstGeom>
        </p:spPr>
      </p:pic>
      <p:pic>
        <p:nvPicPr>
          <p:cNvPr id="4" name="Picture 3" descr="image.png"/>
          <p:cNvPicPr>
            <a:picLocks noChangeAspect="1"/>
          </p:cNvPicPr>
          <p:nvPr/>
        </p:nvPicPr>
        <p:blipFill>
          <a:blip r:embed="rId3"/>
          <a:stretch>
            <a:fillRect/>
          </a:stretch>
        </p:blipFill>
        <p:spPr>
          <a:xfrm>
            <a:off x="5156200" y="2540000"/>
            <a:ext cx="4318000" cy="4318000"/>
          </a:xfrm>
          <a:prstGeom prst="rect">
            <a:avLst/>
          </a:prstGeom>
        </p:spPr>
      </p:pic>
      <p:pic>
        <p:nvPicPr>
          <p:cNvPr id="5" name="Picture 4" descr="image.png"/>
          <p:cNvPicPr>
            <a:picLocks noChangeAspect="1"/>
          </p:cNvPicPr>
          <p:nvPr/>
        </p:nvPicPr>
        <p:blipFill>
          <a:blip r:embed="rId4"/>
          <a:stretch>
            <a:fillRect/>
          </a:stretch>
        </p:blipFill>
        <p:spPr>
          <a:xfrm>
            <a:off x="5156200" y="2540000"/>
            <a:ext cx="4318000" cy="4318000"/>
          </a:xfrm>
          <a:prstGeom prst="rect">
            <a:avLst/>
          </a:prstGeom>
        </p:spPr>
      </p:pic>
      <p:sp>
        <p:nvSpPr>
          <p:cNvPr id="6" name="TextBox 5"/>
          <p:cNvSpPr txBox="1"/>
          <p:nvPr/>
        </p:nvSpPr>
        <p:spPr>
          <a:xfrm>
            <a:off x="762000" y="3556000"/>
            <a:ext cx="4064000" cy="381000"/>
          </a:xfrm>
          <a:prstGeom prst="rect">
            <a:avLst/>
          </a:prstGeom>
          <a:noFill/>
        </p:spPr>
        <p:txBody>
          <a:bodyPr wrap="square" anchor="t">
            <a:spAutoFit/>
          </a:bodyPr>
          <a:lstStyle/>
          <a:p>
            <a:pPr algn="r">
              <a:defRPr sz="2200" b="1" i="0">
                <a:solidFill>
                  <a:srgbClr val="D6E5EF"/>
                </a:solidFill>
                <a:latin typeface="Lora"/>
              </a:defRPr>
            </a:pPr>
            <a:r>
              <a:t>Функционалдығы</a:t>
            </a:r>
          </a:p>
        </p:txBody>
      </p:sp>
      <p:sp>
        <p:nvSpPr>
          <p:cNvPr id="7" name="TextBox 6"/>
          <p:cNvSpPr txBox="1"/>
          <p:nvPr/>
        </p:nvSpPr>
        <p:spPr>
          <a:xfrm>
            <a:off x="1016000" y="4000500"/>
            <a:ext cx="3810000" cy="2540000"/>
          </a:xfrm>
          <a:prstGeom prst="rect">
            <a:avLst/>
          </a:prstGeom>
          <a:noFill/>
        </p:spPr>
        <p:txBody>
          <a:bodyPr wrap="square" anchor="t">
            <a:spAutoFit/>
          </a:bodyPr>
          <a:lstStyle/>
          <a:p>
            <a:pPr algn="r">
              <a:defRPr sz="1800" b="0" i="0">
                <a:solidFill>
                  <a:srgbClr val="D6E5EF"/>
                </a:solidFill>
                <a:latin typeface="Source Sans Pro"/>
              </a:defRPr>
            </a:pPr>
            <a:r>
              <a:t>API кілттері API-ге кіруді бақылаудың ең қарапайым әдісі болып табылады. Олар әртүрлі клиенттерді сәйкестендіру және трафикті шектеу үшін қолданылады.</a:t>
            </a:r>
          </a:p>
        </p:txBody>
      </p:sp>
      <p:pic>
        <p:nvPicPr>
          <p:cNvPr id="8" name="Picture 7" descr="image.png"/>
          <p:cNvPicPr>
            <a:picLocks noChangeAspect="1"/>
          </p:cNvPicPr>
          <p:nvPr/>
        </p:nvPicPr>
        <p:blipFill>
          <a:blip r:embed="rId5"/>
          <a:stretch>
            <a:fillRect/>
          </a:stretch>
        </p:blipFill>
        <p:spPr>
          <a:xfrm>
            <a:off x="5651500" y="4508500"/>
            <a:ext cx="355600" cy="355600"/>
          </a:xfrm>
          <a:prstGeom prst="rect">
            <a:avLst/>
          </a:prstGeom>
        </p:spPr>
      </p:pic>
      <p:sp>
        <p:nvSpPr>
          <p:cNvPr id="9" name="TextBox 8"/>
          <p:cNvSpPr txBox="1"/>
          <p:nvPr/>
        </p:nvSpPr>
        <p:spPr>
          <a:xfrm>
            <a:off x="9804400" y="2794000"/>
            <a:ext cx="4445000" cy="381000"/>
          </a:xfrm>
          <a:prstGeom prst="rect">
            <a:avLst/>
          </a:prstGeom>
          <a:noFill/>
        </p:spPr>
        <p:txBody>
          <a:bodyPr wrap="square" anchor="t">
            <a:spAutoFit/>
          </a:bodyPr>
          <a:lstStyle/>
          <a:p>
            <a:pPr algn="l">
              <a:defRPr sz="2200" b="1" i="0">
                <a:solidFill>
                  <a:srgbClr val="D6E5EF"/>
                </a:solidFill>
                <a:latin typeface="Lora"/>
              </a:defRPr>
            </a:pPr>
            <a:r>
              <a:t>Қолданылуы</a:t>
            </a:r>
          </a:p>
        </p:txBody>
      </p:sp>
      <p:sp>
        <p:nvSpPr>
          <p:cNvPr id="10" name="TextBox 9"/>
          <p:cNvSpPr txBox="1"/>
          <p:nvPr/>
        </p:nvSpPr>
        <p:spPr>
          <a:xfrm>
            <a:off x="9804400" y="3238500"/>
            <a:ext cx="3810000" cy="1143000"/>
          </a:xfrm>
          <a:prstGeom prst="rect">
            <a:avLst/>
          </a:prstGeom>
          <a:noFill/>
        </p:spPr>
        <p:txBody>
          <a:bodyPr wrap="square" anchor="t">
            <a:spAutoFit/>
          </a:bodyPr>
          <a:lstStyle/>
          <a:p>
            <a:pPr algn="l">
              <a:defRPr sz="1800" b="0" i="0">
                <a:solidFill>
                  <a:srgbClr val="D6E5EF"/>
                </a:solidFill>
                <a:latin typeface="Source Sans Pro"/>
              </a:defRPr>
            </a:pPr>
            <a:r>
              <a:t>Әдетте, тіркелген әзірлеушілерге API-ге қол жеткізуді жеңілдету үшін қолданылады. Google Maps API әзірлеушілерге жеке кілт береді.</a:t>
            </a:r>
          </a:p>
        </p:txBody>
      </p:sp>
      <p:pic>
        <p:nvPicPr>
          <p:cNvPr id="11" name="Picture 10" descr="image.png"/>
          <p:cNvPicPr>
            <a:picLocks noChangeAspect="1"/>
          </p:cNvPicPr>
          <p:nvPr/>
        </p:nvPicPr>
        <p:blipFill>
          <a:blip r:embed="rId6"/>
          <a:stretch>
            <a:fillRect/>
          </a:stretch>
        </p:blipFill>
        <p:spPr>
          <a:xfrm>
            <a:off x="7975600" y="3302000"/>
            <a:ext cx="355600" cy="355600"/>
          </a:xfrm>
          <a:prstGeom prst="rect">
            <a:avLst/>
          </a:prstGeom>
        </p:spPr>
      </p:pic>
      <p:sp>
        <p:nvSpPr>
          <p:cNvPr id="12" name="TextBox 11"/>
          <p:cNvSpPr txBox="1"/>
          <p:nvPr/>
        </p:nvSpPr>
        <p:spPr>
          <a:xfrm>
            <a:off x="9804400" y="4953000"/>
            <a:ext cx="4445000" cy="381000"/>
          </a:xfrm>
          <a:prstGeom prst="rect">
            <a:avLst/>
          </a:prstGeom>
          <a:noFill/>
        </p:spPr>
        <p:txBody>
          <a:bodyPr wrap="square" anchor="t">
            <a:spAutoFit/>
          </a:bodyPr>
          <a:lstStyle/>
          <a:p>
            <a:pPr algn="l">
              <a:defRPr sz="2200" b="1" i="0">
                <a:solidFill>
                  <a:srgbClr val="D6E5EF"/>
                </a:solidFill>
                <a:latin typeface="Lora"/>
              </a:defRPr>
            </a:pPr>
            <a:r>
              <a:t>Тәуекелдер</a:t>
            </a:r>
          </a:p>
        </p:txBody>
      </p:sp>
      <p:sp>
        <p:nvSpPr>
          <p:cNvPr id="13" name="TextBox 12"/>
          <p:cNvSpPr txBox="1"/>
          <p:nvPr/>
        </p:nvSpPr>
        <p:spPr>
          <a:xfrm>
            <a:off x="9804400" y="5397500"/>
            <a:ext cx="3810000" cy="1143000"/>
          </a:xfrm>
          <a:prstGeom prst="rect">
            <a:avLst/>
          </a:prstGeom>
          <a:noFill/>
        </p:spPr>
        <p:txBody>
          <a:bodyPr wrap="square" anchor="t">
            <a:spAutoFit/>
          </a:bodyPr>
          <a:lstStyle/>
          <a:p>
            <a:pPr algn="l">
              <a:defRPr sz="1800" b="0" i="0">
                <a:solidFill>
                  <a:srgbClr val="D6E5EF"/>
                </a:solidFill>
                <a:latin typeface="Source Sans Pro"/>
              </a:defRPr>
            </a:pPr>
            <a:r>
              <a:t>API кілттерінің ұрлануы немесе ашылуы деректердің рұқсатсыз қол жеткізуіне әкелуі мүмкін. Оларды қауіпсіз сақтау маңызды.</a:t>
            </a:r>
          </a:p>
        </p:txBody>
      </p:sp>
      <p:pic>
        <p:nvPicPr>
          <p:cNvPr id="14" name="Picture 13" descr="image.png"/>
          <p:cNvPicPr>
            <a:picLocks noChangeAspect="1"/>
          </p:cNvPicPr>
          <p:nvPr/>
        </p:nvPicPr>
        <p:blipFill>
          <a:blip r:embed="rId7"/>
          <a:stretch>
            <a:fillRect/>
          </a:stretch>
        </p:blipFill>
        <p:spPr>
          <a:xfrm>
            <a:off x="7874000" y="5816600"/>
            <a:ext cx="355600" cy="355600"/>
          </a:xfrm>
          <a:prstGeom prst="rect">
            <a:avLst/>
          </a:prstGeom>
        </p:spPr>
      </p:pic>
      <p:sp>
        <p:nvSpPr>
          <p:cNvPr id="15" name="TextBox 14"/>
          <p:cNvSpPr txBox="1"/>
          <p:nvPr/>
        </p:nvSpPr>
        <p:spPr>
          <a:xfrm>
            <a:off x="762000" y="7239000"/>
            <a:ext cx="12700000" cy="762000"/>
          </a:xfrm>
          <a:prstGeom prst="rect">
            <a:avLst/>
          </a:prstGeom>
          <a:noFill/>
        </p:spPr>
        <p:txBody>
          <a:bodyPr wrap="square" anchor="t">
            <a:spAutoFit/>
          </a:bodyPr>
          <a:lstStyle/>
          <a:p>
            <a:pPr algn="l">
              <a:defRPr sz="1800" b="0" i="0">
                <a:solidFill>
                  <a:srgbClr val="D6E5EF"/>
                </a:solidFill>
                <a:latin typeface="Source Sans Pro"/>
              </a:defRPr>
            </a:pPr>
            <a:r>
              <a:t>API кілттерін тұрақты түрде ротациялау және олардың қолданылуын шектеу қауіпсіздікті арттыруға көмектеседі. Бұл деректерді қорғаудың маңызды шарасы.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52733"/>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5486400" cy="8229600"/>
          </a:xfrm>
          <a:prstGeom prst="rect">
            <a:avLst/>
          </a:prstGeom>
        </p:spPr>
      </p:pic>
      <p:sp>
        <p:nvSpPr>
          <p:cNvPr id="3" name="TextBox 2"/>
          <p:cNvSpPr txBox="1"/>
          <p:nvPr/>
        </p:nvSpPr>
        <p:spPr>
          <a:xfrm>
            <a:off x="6350000" y="1714500"/>
            <a:ext cx="7620000" cy="1270000"/>
          </a:xfrm>
          <a:prstGeom prst="rect">
            <a:avLst/>
          </a:prstGeom>
          <a:noFill/>
        </p:spPr>
        <p:txBody>
          <a:bodyPr wrap="square" anchor="t">
            <a:spAutoFit/>
          </a:bodyPr>
          <a:lstStyle/>
          <a:p>
            <a:pPr algn="l">
              <a:defRPr sz="4400" b="1" i="0">
                <a:solidFill>
                  <a:srgbClr val="F98AC7"/>
                </a:solidFill>
                <a:latin typeface="Lora"/>
              </a:defRPr>
            </a:pPr>
            <a:r>
              <a:t>OAuth 2.0</a:t>
            </a:r>
          </a:p>
        </p:txBody>
      </p:sp>
      <p:sp>
        <p:nvSpPr>
          <p:cNvPr id="4" name="Rounded Rectangle 3"/>
          <p:cNvSpPr/>
          <p:nvPr/>
        </p:nvSpPr>
        <p:spPr>
          <a:xfrm>
            <a:off x="6350000" y="3175000"/>
            <a:ext cx="381000" cy="381000"/>
          </a:xfrm>
          <a:prstGeom prst="roundRect">
            <a:avLst>
              <a:gd name="adj" fmla="val 3000"/>
            </a:avLst>
          </a:prstGeom>
          <a:solidFill>
            <a:srgbClr val="444652"/>
          </a:solidFill>
          <a:ln w="12700">
            <a:solidFill>
              <a:srgbClr val="5D6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50000" y="2921000"/>
            <a:ext cx="381000" cy="381000"/>
          </a:xfrm>
          <a:prstGeom prst="rect">
            <a:avLst/>
          </a:prstGeom>
          <a:noFill/>
        </p:spPr>
        <p:txBody>
          <a:bodyPr wrap="none" anchor="t" tIns="0" bIns="0" lIns="0" rIns="0">
            <a:spAutoFit/>
          </a:bodyPr>
          <a:lstStyle/>
          <a:p/>
          <a:p>
            <a:pPr algn="ctr">
              <a:defRPr sz="2300">
                <a:solidFill>
                  <a:srgbClr val="D6E5EF"/>
                </a:solidFill>
                <a:latin typeface="Inter"/>
              </a:defRPr>
            </a:pPr>
            <a:r>
              <a:t>1</a:t>
            </a:r>
          </a:p>
        </p:txBody>
      </p:sp>
      <p:sp>
        <p:nvSpPr>
          <p:cNvPr id="6" name="Rounded Rectangle 5"/>
          <p:cNvSpPr/>
          <p:nvPr/>
        </p:nvSpPr>
        <p:spPr>
          <a:xfrm>
            <a:off x="6350000" y="4445000"/>
            <a:ext cx="381000" cy="381000"/>
          </a:xfrm>
          <a:prstGeom prst="roundRect">
            <a:avLst>
              <a:gd name="adj" fmla="val 3000"/>
            </a:avLst>
          </a:prstGeom>
          <a:solidFill>
            <a:srgbClr val="444652"/>
          </a:solidFill>
          <a:ln w="12700">
            <a:solidFill>
              <a:srgbClr val="5D6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50000" y="4178300"/>
            <a:ext cx="381000" cy="381000"/>
          </a:xfrm>
          <a:prstGeom prst="rect">
            <a:avLst/>
          </a:prstGeom>
          <a:noFill/>
        </p:spPr>
        <p:txBody>
          <a:bodyPr wrap="none" anchor="t" tIns="0" bIns="0" lIns="0" rIns="0">
            <a:spAutoFit/>
          </a:bodyPr>
          <a:lstStyle/>
          <a:p/>
          <a:p>
            <a:pPr algn="ctr">
              <a:defRPr sz="2300">
                <a:solidFill>
                  <a:srgbClr val="D6E5EF"/>
                </a:solidFill>
                <a:latin typeface="Inter"/>
              </a:defRPr>
            </a:pPr>
            <a:r>
              <a:t>2</a:t>
            </a:r>
          </a:p>
        </p:txBody>
      </p:sp>
      <p:sp>
        <p:nvSpPr>
          <p:cNvPr id="8" name="Rounded Rectangle 7"/>
          <p:cNvSpPr/>
          <p:nvPr/>
        </p:nvSpPr>
        <p:spPr>
          <a:xfrm>
            <a:off x="6350000" y="5715000"/>
            <a:ext cx="381000" cy="381000"/>
          </a:xfrm>
          <a:prstGeom prst="roundRect">
            <a:avLst>
              <a:gd name="adj" fmla="val 3000"/>
            </a:avLst>
          </a:prstGeom>
          <a:solidFill>
            <a:srgbClr val="444652"/>
          </a:solidFill>
          <a:ln w="12700">
            <a:solidFill>
              <a:srgbClr val="5D6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0000" y="5448300"/>
            <a:ext cx="381000" cy="381000"/>
          </a:xfrm>
          <a:prstGeom prst="rect">
            <a:avLst/>
          </a:prstGeom>
          <a:noFill/>
        </p:spPr>
        <p:txBody>
          <a:bodyPr wrap="none" anchor="t" tIns="0" bIns="0" lIns="0" rIns="0">
            <a:spAutoFit/>
          </a:bodyPr>
          <a:lstStyle/>
          <a:p/>
          <a:p>
            <a:pPr algn="ctr">
              <a:defRPr sz="2300">
                <a:solidFill>
                  <a:srgbClr val="D6E5EF"/>
                </a:solidFill>
                <a:latin typeface="Inter"/>
              </a:defRPr>
            </a:pPr>
            <a:r>
              <a:t>3</a:t>
            </a:r>
          </a:p>
        </p:txBody>
      </p:sp>
      <p:sp>
        <p:nvSpPr>
          <p:cNvPr id="10" name="TextBox 9"/>
          <p:cNvSpPr txBox="1"/>
          <p:nvPr/>
        </p:nvSpPr>
        <p:spPr>
          <a:xfrm>
            <a:off x="6985000" y="2984500"/>
            <a:ext cx="6985000" cy="381000"/>
          </a:xfrm>
          <a:prstGeom prst="rect">
            <a:avLst/>
          </a:prstGeom>
          <a:noFill/>
        </p:spPr>
        <p:txBody>
          <a:bodyPr wrap="square" anchor="t">
            <a:spAutoFit/>
          </a:bodyPr>
          <a:lstStyle/>
          <a:p>
            <a:pPr algn="l">
              <a:defRPr sz="2200" b="1" i="0">
                <a:solidFill>
                  <a:srgbClr val="D6E5EF"/>
                </a:solidFill>
                <a:latin typeface="Lora"/>
              </a:defRPr>
            </a:pPr>
            <a:r>
              <a:t>Стандарт</a:t>
            </a:r>
          </a:p>
        </p:txBody>
      </p:sp>
      <p:sp>
        <p:nvSpPr>
          <p:cNvPr id="11" name="TextBox 10"/>
          <p:cNvSpPr txBox="1"/>
          <p:nvPr/>
        </p:nvSpPr>
        <p:spPr>
          <a:xfrm>
            <a:off x="6985000" y="3365500"/>
            <a:ext cx="6985000" cy="1143000"/>
          </a:xfrm>
          <a:prstGeom prst="rect">
            <a:avLst/>
          </a:prstGeom>
          <a:noFill/>
        </p:spPr>
        <p:txBody>
          <a:bodyPr wrap="square" anchor="t">
            <a:spAutoFit/>
          </a:bodyPr>
          <a:lstStyle/>
          <a:p>
            <a:pPr algn="l">
              <a:defRPr sz="1800" b="0" i="0">
                <a:solidFill>
                  <a:srgbClr val="D6E5EF"/>
                </a:solidFill>
                <a:latin typeface="Source Sans Pro"/>
              </a:defRPr>
            </a:pPr>
            <a:r>
              <a:t>OAuth 2.0 — авторизацияға арналған танымал стандарт. Қолданбаларға пайдаланушының рұқсатымен басқа қызметтердің деректеріне қол жеткізуге мүмкіндік береді.</a:t>
            </a:r>
          </a:p>
        </p:txBody>
      </p:sp>
      <p:sp>
        <p:nvSpPr>
          <p:cNvPr id="12" name="TextBox 11"/>
          <p:cNvSpPr txBox="1"/>
          <p:nvPr/>
        </p:nvSpPr>
        <p:spPr>
          <a:xfrm>
            <a:off x="6985000" y="4254500"/>
            <a:ext cx="6985000" cy="381000"/>
          </a:xfrm>
          <a:prstGeom prst="rect">
            <a:avLst/>
          </a:prstGeom>
          <a:noFill/>
        </p:spPr>
        <p:txBody>
          <a:bodyPr wrap="square" anchor="t">
            <a:spAutoFit/>
          </a:bodyPr>
          <a:lstStyle/>
          <a:p>
            <a:pPr algn="l">
              <a:defRPr sz="2200" b="1" i="0">
                <a:solidFill>
                  <a:srgbClr val="D6E5EF"/>
                </a:solidFill>
                <a:latin typeface="Lora"/>
              </a:defRPr>
            </a:pPr>
            <a:r>
              <a:t>Иелік ету</a:t>
            </a:r>
          </a:p>
        </p:txBody>
      </p:sp>
      <p:sp>
        <p:nvSpPr>
          <p:cNvPr id="13" name="TextBox 12"/>
          <p:cNvSpPr txBox="1"/>
          <p:nvPr/>
        </p:nvSpPr>
        <p:spPr>
          <a:xfrm>
            <a:off x="6985000" y="4635500"/>
            <a:ext cx="6985000" cy="1143000"/>
          </a:xfrm>
          <a:prstGeom prst="rect">
            <a:avLst/>
          </a:prstGeom>
          <a:noFill/>
        </p:spPr>
        <p:txBody>
          <a:bodyPr wrap="square" anchor="t">
            <a:spAutoFit/>
          </a:bodyPr>
          <a:lstStyle/>
          <a:p>
            <a:pPr algn="l">
              <a:defRPr sz="1800" b="0" i="0">
                <a:solidFill>
                  <a:srgbClr val="D6E5EF"/>
                </a:solidFill>
                <a:latin typeface="Source Sans Pro"/>
              </a:defRPr>
            </a:pPr>
            <a:r>
              <a:t>Ол "иелік ету" (delegation) моделіне негізделген. Қолданба пайдаланушының паролін білмей-ақ оның атынан әрекет ете алады.</a:t>
            </a:r>
          </a:p>
        </p:txBody>
      </p:sp>
      <p:sp>
        <p:nvSpPr>
          <p:cNvPr id="14" name="TextBox 13"/>
          <p:cNvSpPr txBox="1"/>
          <p:nvPr/>
        </p:nvSpPr>
        <p:spPr>
          <a:xfrm>
            <a:off x="6985000" y="5524500"/>
            <a:ext cx="6985000" cy="381000"/>
          </a:xfrm>
          <a:prstGeom prst="rect">
            <a:avLst/>
          </a:prstGeom>
          <a:noFill/>
        </p:spPr>
        <p:txBody>
          <a:bodyPr wrap="square" anchor="t">
            <a:spAutoFit/>
          </a:bodyPr>
          <a:lstStyle/>
          <a:p>
            <a:pPr algn="l">
              <a:defRPr sz="2200" b="1" i="0">
                <a:solidFill>
                  <a:srgbClr val="D6E5EF"/>
                </a:solidFill>
                <a:latin typeface="Lora"/>
              </a:defRPr>
            </a:pPr>
            <a:r>
              <a:t>Мысал</a:t>
            </a:r>
          </a:p>
        </p:txBody>
      </p:sp>
      <p:sp>
        <p:nvSpPr>
          <p:cNvPr id="15" name="TextBox 14"/>
          <p:cNvSpPr txBox="1"/>
          <p:nvPr/>
        </p:nvSpPr>
        <p:spPr>
          <a:xfrm>
            <a:off x="6985000" y="5905500"/>
            <a:ext cx="6985000" cy="1143000"/>
          </a:xfrm>
          <a:prstGeom prst="rect">
            <a:avLst/>
          </a:prstGeom>
          <a:noFill/>
        </p:spPr>
        <p:txBody>
          <a:bodyPr wrap="square" anchor="t">
            <a:spAutoFit/>
          </a:bodyPr>
          <a:lstStyle/>
          <a:p>
            <a:pPr algn="l">
              <a:defRPr sz="1800" b="0" i="0">
                <a:solidFill>
                  <a:srgbClr val="D6E5EF"/>
                </a:solidFill>
                <a:latin typeface="Source Sans Pro"/>
              </a:defRPr>
            </a:pPr>
            <a:r>
              <a:t>Facebook немесе Google арқылы басқа сайттарға кіру OAuth-ты пайдаланады. Бұл пайдаланушы тәжірибесін жақсартады.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52733"/>
        </a:solidFill>
        <a:effectLst/>
      </p:bgPr>
    </p:bg>
    <p:spTree>
      <p:nvGrpSpPr>
        <p:cNvPr id="1" name=""/>
        <p:cNvGrpSpPr/>
        <p:nvPr/>
      </p:nvGrpSpPr>
      <p:grpSpPr/>
      <p:sp>
        <p:nvSpPr>
          <p:cNvPr id="2" name="TextBox 1"/>
          <p:cNvSpPr txBox="1"/>
          <p:nvPr/>
        </p:nvSpPr>
        <p:spPr>
          <a:xfrm>
            <a:off x="762000" y="1270000"/>
            <a:ext cx="12700000" cy="1143000"/>
          </a:xfrm>
          <a:prstGeom prst="rect">
            <a:avLst/>
          </a:prstGeom>
          <a:noFill/>
        </p:spPr>
        <p:txBody>
          <a:bodyPr wrap="square" anchor="t">
            <a:spAutoFit/>
          </a:bodyPr>
          <a:lstStyle/>
          <a:p>
            <a:pPr algn="l">
              <a:defRPr sz="4400" b="1" i="0">
                <a:solidFill>
                  <a:srgbClr val="F98AC7"/>
                </a:solidFill>
                <a:latin typeface="Lora"/>
              </a:defRPr>
            </a:pPr>
            <a:r>
              <a:t>JWT (JSON Web Tokens)</a:t>
            </a:r>
          </a:p>
        </p:txBody>
      </p:sp>
      <p:pic>
        <p:nvPicPr>
          <p:cNvPr id="3" name="Picture 2" descr="image.png"/>
          <p:cNvPicPr>
            <a:picLocks noChangeAspect="1"/>
          </p:cNvPicPr>
          <p:nvPr/>
        </p:nvPicPr>
        <p:blipFill>
          <a:blip r:embed="rId2"/>
          <a:stretch>
            <a:fillRect/>
          </a:stretch>
        </p:blipFill>
        <p:spPr>
          <a:xfrm>
            <a:off x="825500" y="2286000"/>
            <a:ext cx="4318000" cy="889000"/>
          </a:xfrm>
          <a:prstGeom prst="rect">
            <a:avLst/>
          </a:prstGeom>
        </p:spPr>
      </p:pic>
      <p:sp>
        <p:nvSpPr>
          <p:cNvPr id="4" name="TextBox 3"/>
          <p:cNvSpPr txBox="1"/>
          <p:nvPr/>
        </p:nvSpPr>
        <p:spPr>
          <a:xfrm>
            <a:off x="1016000" y="3365500"/>
            <a:ext cx="4127500" cy="381000"/>
          </a:xfrm>
          <a:prstGeom prst="rect">
            <a:avLst/>
          </a:prstGeom>
          <a:noFill/>
        </p:spPr>
        <p:txBody>
          <a:bodyPr wrap="square" anchor="t">
            <a:spAutoFit/>
          </a:bodyPr>
          <a:lstStyle/>
          <a:p>
            <a:pPr algn="l">
              <a:defRPr sz="2200" b="1" i="0">
                <a:solidFill>
                  <a:srgbClr val="D6E5EF"/>
                </a:solidFill>
                <a:latin typeface="Lora"/>
              </a:defRPr>
            </a:pPr>
            <a:r>
              <a:t>Стандарт</a:t>
            </a:r>
          </a:p>
        </p:txBody>
      </p:sp>
      <p:sp>
        <p:nvSpPr>
          <p:cNvPr id="5" name="TextBox 4"/>
          <p:cNvSpPr txBox="1"/>
          <p:nvPr/>
        </p:nvSpPr>
        <p:spPr>
          <a:xfrm>
            <a:off x="1016000" y="3810000"/>
            <a:ext cx="3873500" cy="2540000"/>
          </a:xfrm>
          <a:prstGeom prst="rect">
            <a:avLst/>
          </a:prstGeom>
          <a:noFill/>
        </p:spPr>
        <p:txBody>
          <a:bodyPr wrap="square" anchor="t">
            <a:spAutoFit/>
          </a:bodyPr>
          <a:lstStyle/>
          <a:p>
            <a:pPr algn="l">
              <a:defRPr sz="1800" b="0" i="0">
                <a:solidFill>
                  <a:srgbClr val="D6E5EF"/>
                </a:solidFill>
                <a:latin typeface="Source Sans Pro"/>
              </a:defRPr>
            </a:pPr>
            <a:r>
              <a:t>JWT — бұл екі тарап арасында ақпаратты сенімді түрде беруге арналған ашық стандарт. Ол заголовок, деректер және қолтаңбадан тұрады, бұл деректердің бүтіндігін қамтамасыз етеді.</a:t>
            </a:r>
          </a:p>
        </p:txBody>
      </p:sp>
      <p:pic>
        <p:nvPicPr>
          <p:cNvPr id="6" name="Picture 5" descr="image.png"/>
          <p:cNvPicPr>
            <a:picLocks noChangeAspect="1"/>
          </p:cNvPicPr>
          <p:nvPr/>
        </p:nvPicPr>
        <p:blipFill>
          <a:blip r:embed="rId3"/>
          <a:stretch>
            <a:fillRect/>
          </a:stretch>
        </p:blipFill>
        <p:spPr>
          <a:xfrm>
            <a:off x="2806700" y="2552700"/>
            <a:ext cx="355600" cy="355600"/>
          </a:xfrm>
          <a:prstGeom prst="rect">
            <a:avLst/>
          </a:prstGeom>
        </p:spPr>
      </p:pic>
      <p:pic>
        <p:nvPicPr>
          <p:cNvPr id="7" name="Picture 6" descr="image.png"/>
          <p:cNvPicPr>
            <a:picLocks noChangeAspect="1"/>
          </p:cNvPicPr>
          <p:nvPr/>
        </p:nvPicPr>
        <p:blipFill>
          <a:blip r:embed="rId2"/>
          <a:stretch>
            <a:fillRect/>
          </a:stretch>
        </p:blipFill>
        <p:spPr>
          <a:xfrm>
            <a:off x="5143500" y="2286000"/>
            <a:ext cx="4318000" cy="889000"/>
          </a:xfrm>
          <a:prstGeom prst="rect">
            <a:avLst/>
          </a:prstGeom>
        </p:spPr>
      </p:pic>
      <p:sp>
        <p:nvSpPr>
          <p:cNvPr id="8" name="TextBox 7"/>
          <p:cNvSpPr txBox="1"/>
          <p:nvPr/>
        </p:nvSpPr>
        <p:spPr>
          <a:xfrm>
            <a:off x="5321300" y="3365500"/>
            <a:ext cx="4127500" cy="381000"/>
          </a:xfrm>
          <a:prstGeom prst="rect">
            <a:avLst/>
          </a:prstGeom>
          <a:noFill/>
        </p:spPr>
        <p:txBody>
          <a:bodyPr wrap="square" anchor="t">
            <a:spAutoFit/>
          </a:bodyPr>
          <a:lstStyle/>
          <a:p>
            <a:pPr algn="l">
              <a:defRPr sz="2200" b="1" i="0">
                <a:solidFill>
                  <a:srgbClr val="D6E5EF"/>
                </a:solidFill>
                <a:latin typeface="Lora"/>
              </a:defRPr>
            </a:pPr>
            <a:r>
              <a:t>Қолданылуы</a:t>
            </a:r>
          </a:p>
        </p:txBody>
      </p:sp>
      <p:sp>
        <p:nvSpPr>
          <p:cNvPr id="9" name="TextBox 8"/>
          <p:cNvSpPr txBox="1"/>
          <p:nvPr/>
        </p:nvSpPr>
        <p:spPr>
          <a:xfrm>
            <a:off x="5321300" y="3810000"/>
            <a:ext cx="3873500" cy="2540000"/>
          </a:xfrm>
          <a:prstGeom prst="rect">
            <a:avLst/>
          </a:prstGeom>
          <a:noFill/>
        </p:spPr>
        <p:txBody>
          <a:bodyPr wrap="square" anchor="t">
            <a:spAutoFit/>
          </a:bodyPr>
          <a:lstStyle/>
          <a:p>
            <a:pPr algn="l">
              <a:defRPr sz="1800" b="0" i="0">
                <a:solidFill>
                  <a:srgbClr val="D6E5EF"/>
                </a:solidFill>
                <a:latin typeface="Source Sans Pro"/>
              </a:defRPr>
            </a:pPr>
            <a:r>
              <a:t>API-ге кіруді басқару және қолданушы сессияларын сақтау үшін кеңінен қолданылады. Бұл серверге күш түсіруді азайтады.</a:t>
            </a:r>
          </a:p>
        </p:txBody>
      </p:sp>
      <p:pic>
        <p:nvPicPr>
          <p:cNvPr id="10" name="Picture 9" descr="image.png"/>
          <p:cNvPicPr>
            <a:picLocks noChangeAspect="1"/>
          </p:cNvPicPr>
          <p:nvPr/>
        </p:nvPicPr>
        <p:blipFill>
          <a:blip r:embed="rId4"/>
          <a:stretch>
            <a:fillRect/>
          </a:stretch>
        </p:blipFill>
        <p:spPr>
          <a:xfrm>
            <a:off x="7124700" y="2552700"/>
            <a:ext cx="355600" cy="355600"/>
          </a:xfrm>
          <a:prstGeom prst="rect">
            <a:avLst/>
          </a:prstGeom>
        </p:spPr>
      </p:pic>
      <p:pic>
        <p:nvPicPr>
          <p:cNvPr id="11" name="Picture 10" descr="image.png"/>
          <p:cNvPicPr>
            <a:picLocks noChangeAspect="1"/>
          </p:cNvPicPr>
          <p:nvPr/>
        </p:nvPicPr>
        <p:blipFill>
          <a:blip r:embed="rId2"/>
          <a:stretch>
            <a:fillRect/>
          </a:stretch>
        </p:blipFill>
        <p:spPr>
          <a:xfrm>
            <a:off x="9461500" y="2286000"/>
            <a:ext cx="4318000" cy="889000"/>
          </a:xfrm>
          <a:prstGeom prst="rect">
            <a:avLst/>
          </a:prstGeom>
        </p:spPr>
      </p:pic>
      <p:sp>
        <p:nvSpPr>
          <p:cNvPr id="12" name="TextBox 11"/>
          <p:cNvSpPr txBox="1"/>
          <p:nvPr/>
        </p:nvSpPr>
        <p:spPr>
          <a:xfrm>
            <a:off x="9690100" y="3365500"/>
            <a:ext cx="4127500" cy="381000"/>
          </a:xfrm>
          <a:prstGeom prst="rect">
            <a:avLst/>
          </a:prstGeom>
          <a:noFill/>
        </p:spPr>
        <p:txBody>
          <a:bodyPr wrap="square" anchor="t">
            <a:spAutoFit/>
          </a:bodyPr>
          <a:lstStyle/>
          <a:p>
            <a:pPr algn="l">
              <a:defRPr sz="2200" b="1" i="0">
                <a:solidFill>
                  <a:srgbClr val="D6E5EF"/>
                </a:solidFill>
                <a:latin typeface="Lora"/>
              </a:defRPr>
            </a:pPr>
            <a:r>
              <a:t>Артықшылықтары</a:t>
            </a:r>
          </a:p>
        </p:txBody>
      </p:sp>
      <p:sp>
        <p:nvSpPr>
          <p:cNvPr id="13" name="TextBox 12"/>
          <p:cNvSpPr txBox="1"/>
          <p:nvPr/>
        </p:nvSpPr>
        <p:spPr>
          <a:xfrm>
            <a:off x="9690100" y="3810000"/>
            <a:ext cx="3873500" cy="2540000"/>
          </a:xfrm>
          <a:prstGeom prst="rect">
            <a:avLst/>
          </a:prstGeom>
          <a:noFill/>
        </p:spPr>
        <p:txBody>
          <a:bodyPr wrap="square" anchor="t">
            <a:spAutoFit/>
          </a:bodyPr>
          <a:lstStyle/>
          <a:p>
            <a:pPr algn="l">
              <a:defRPr sz="1800" b="0" i="0">
                <a:solidFill>
                  <a:srgbClr val="D6E5EF"/>
                </a:solidFill>
                <a:latin typeface="Source Sans Pro"/>
              </a:defRPr>
            </a:pPr>
            <a:r>
              <a:t>JWT компактты, URL-мен жазылатын және серверде сессияларды сақтауды қажет етпейді. Бұл өнімділікті жақсартады.</a:t>
            </a:r>
          </a:p>
        </p:txBody>
      </p:sp>
      <p:pic>
        <p:nvPicPr>
          <p:cNvPr id="14" name="Picture 13" descr="image.png"/>
          <p:cNvPicPr>
            <a:picLocks noChangeAspect="1"/>
          </p:cNvPicPr>
          <p:nvPr/>
        </p:nvPicPr>
        <p:blipFill>
          <a:blip r:embed="rId5"/>
          <a:stretch>
            <a:fillRect/>
          </a:stretch>
        </p:blipFill>
        <p:spPr>
          <a:xfrm>
            <a:off x="11544300" y="2552700"/>
            <a:ext cx="355600" cy="3556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52733"/>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4630400" cy="3302000"/>
          </a:xfrm>
          <a:prstGeom prst="rect">
            <a:avLst/>
          </a:prstGeom>
        </p:spPr>
      </p:pic>
      <p:sp>
        <p:nvSpPr>
          <p:cNvPr id="3" name="TextBox 2"/>
          <p:cNvSpPr txBox="1"/>
          <p:nvPr/>
        </p:nvSpPr>
        <p:spPr>
          <a:xfrm>
            <a:off x="762000" y="3429000"/>
            <a:ext cx="13106400" cy="1270000"/>
          </a:xfrm>
          <a:prstGeom prst="rect">
            <a:avLst/>
          </a:prstGeom>
          <a:noFill/>
        </p:spPr>
        <p:txBody>
          <a:bodyPr wrap="square" anchor="b">
            <a:spAutoFit/>
          </a:bodyPr>
          <a:lstStyle/>
          <a:p>
            <a:pPr algn="l">
              <a:defRPr sz="4400" b="1" i="0">
                <a:solidFill>
                  <a:srgbClr val="F98AC7"/>
                </a:solidFill>
                <a:latin typeface="Lora"/>
              </a:defRPr>
            </a:pPr>
            <a:r>
              <a:t>Қауіпсіздік тәуекелдері</a:t>
            </a:r>
          </a:p>
        </p:txBody>
      </p:sp>
      <p:sp>
        <p:nvSpPr>
          <p:cNvPr id="4" name="Rounded Rectangle 3"/>
          <p:cNvSpPr/>
          <p:nvPr/>
        </p:nvSpPr>
        <p:spPr>
          <a:xfrm>
            <a:off x="762000" y="5080000"/>
            <a:ext cx="6426200" cy="2413000"/>
          </a:xfrm>
          <a:prstGeom prst="roundRect">
            <a:avLst>
              <a:gd name="adj" fmla="val 3000"/>
            </a:avLst>
          </a:prstGeom>
          <a:solidFill>
            <a:srgbClr val="444652"/>
          </a:solidFill>
          <a:ln w="12700">
            <a:solidFill>
              <a:srgbClr val="5D6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442200" y="5080000"/>
            <a:ext cx="6426200" cy="2413000"/>
          </a:xfrm>
          <a:prstGeom prst="roundRect">
            <a:avLst>
              <a:gd name="adj" fmla="val 3000"/>
            </a:avLst>
          </a:prstGeom>
          <a:solidFill>
            <a:srgbClr val="444652"/>
          </a:solidFill>
          <a:ln w="12700">
            <a:solidFill>
              <a:srgbClr val="5D6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9000" y="5334000"/>
            <a:ext cx="6299200" cy="381000"/>
          </a:xfrm>
          <a:prstGeom prst="rect">
            <a:avLst/>
          </a:prstGeom>
          <a:noFill/>
        </p:spPr>
        <p:txBody>
          <a:bodyPr wrap="square" anchor="t">
            <a:spAutoFit/>
          </a:bodyPr>
          <a:lstStyle/>
          <a:p>
            <a:pPr algn="l">
              <a:defRPr sz="2200" b="1" i="0">
                <a:solidFill>
                  <a:srgbClr val="D6E5EF"/>
                </a:solidFill>
                <a:latin typeface="Lora"/>
              </a:defRPr>
            </a:pPr>
            <a:r>
              <a:t>API кілттері</a:t>
            </a:r>
          </a:p>
        </p:txBody>
      </p:sp>
      <p:sp>
        <p:nvSpPr>
          <p:cNvPr id="7" name="TextBox 6"/>
          <p:cNvSpPr txBox="1"/>
          <p:nvPr/>
        </p:nvSpPr>
        <p:spPr>
          <a:xfrm>
            <a:off x="889000" y="5842000"/>
            <a:ext cx="6299200" cy="1143000"/>
          </a:xfrm>
          <a:prstGeom prst="rect">
            <a:avLst/>
          </a:prstGeom>
          <a:noFill/>
        </p:spPr>
        <p:txBody>
          <a:bodyPr wrap="square" anchor="t">
            <a:spAutoFit/>
          </a:bodyPr>
          <a:lstStyle/>
          <a:p>
            <a:pPr algn="l">
              <a:defRPr sz="1800" b="0" i="0">
                <a:solidFill>
                  <a:srgbClr val="D6E5EF"/>
                </a:solidFill>
                <a:latin typeface="Source Sans Pro"/>
              </a:defRPr>
            </a:pPr>
            <a:r>
              <a:t>API кілттерінің ұрлануы немесе ашылуы деректердің рұқсатсыз қол жеткізуіне әкелуі мүмкін, бұл бизнестің беделіне нұқсан келтіреді. Бұл ақпараттық қауіпсіздікке үлкен қатер төндіреді.</a:t>
            </a:r>
          </a:p>
        </p:txBody>
      </p:sp>
      <p:sp>
        <p:nvSpPr>
          <p:cNvPr id="8" name="TextBox 7"/>
          <p:cNvSpPr txBox="1"/>
          <p:nvPr/>
        </p:nvSpPr>
        <p:spPr>
          <a:xfrm>
            <a:off x="7569200" y="5334000"/>
            <a:ext cx="6299200" cy="381000"/>
          </a:xfrm>
          <a:prstGeom prst="rect">
            <a:avLst/>
          </a:prstGeom>
          <a:noFill/>
        </p:spPr>
        <p:txBody>
          <a:bodyPr wrap="square" anchor="t">
            <a:spAutoFit/>
          </a:bodyPr>
          <a:lstStyle/>
          <a:p>
            <a:pPr algn="l">
              <a:defRPr sz="2200" b="1" i="0">
                <a:solidFill>
                  <a:srgbClr val="D6E5EF"/>
                </a:solidFill>
                <a:latin typeface="Lora"/>
              </a:defRPr>
            </a:pPr>
            <a:r>
              <a:t>OAuth және JWT</a:t>
            </a:r>
          </a:p>
        </p:txBody>
      </p:sp>
      <p:sp>
        <p:nvSpPr>
          <p:cNvPr id="9" name="TextBox 8"/>
          <p:cNvSpPr txBox="1"/>
          <p:nvPr/>
        </p:nvSpPr>
        <p:spPr>
          <a:xfrm>
            <a:off x="7569200" y="5842000"/>
            <a:ext cx="6299200" cy="1143000"/>
          </a:xfrm>
          <a:prstGeom prst="rect">
            <a:avLst/>
          </a:prstGeom>
          <a:noFill/>
        </p:spPr>
        <p:txBody>
          <a:bodyPr wrap="square" anchor="t">
            <a:spAutoFit/>
          </a:bodyPr>
          <a:lstStyle/>
          <a:p>
            <a:pPr algn="l">
              <a:defRPr sz="1800" b="0" i="0">
                <a:solidFill>
                  <a:srgbClr val="D6E5EF"/>
                </a:solidFill>
                <a:latin typeface="Source Sans Pro"/>
              </a:defRPr>
            </a:pPr>
            <a:r>
              <a:t>OAuth тың дұрыс жүзеге асырылмауы "қол сұғу" шабуылдарына, ал JWT-дегі уақыты өткен токендерді пайдалану қауіпсіздік осалдыктарын тудыруы мүмкін. Тұрақты жаңартулар мен тексерулер қажет.</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52733"/>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9144000" y="0"/>
            <a:ext cx="5486400" cy="8229600"/>
          </a:xfrm>
          <a:prstGeom prst="rect">
            <a:avLst/>
          </a:prstGeom>
        </p:spPr>
      </p:pic>
      <p:sp>
        <p:nvSpPr>
          <p:cNvPr id="3" name="TextBox 2"/>
          <p:cNvSpPr txBox="1"/>
          <p:nvPr/>
        </p:nvSpPr>
        <p:spPr>
          <a:xfrm>
            <a:off x="762000" y="254000"/>
            <a:ext cx="8128000" cy="2120900"/>
          </a:xfrm>
          <a:prstGeom prst="rect">
            <a:avLst/>
          </a:prstGeom>
          <a:noFill/>
        </p:spPr>
        <p:txBody>
          <a:bodyPr wrap="square" anchor="b">
            <a:spAutoFit/>
          </a:bodyPr>
          <a:lstStyle/>
          <a:p>
            <a:pPr algn="l">
              <a:defRPr sz="4400" b="1" i="0">
                <a:solidFill>
                  <a:srgbClr val="F98AC7"/>
                </a:solidFill>
                <a:latin typeface="Lora"/>
              </a:defRPr>
            </a:pPr>
            <a:r>
              <a:t>Қорытынды</a:t>
            </a:r>
          </a:p>
        </p:txBody>
      </p:sp>
      <p:sp>
        <p:nvSpPr>
          <p:cNvPr id="4" name="Rounded Rectangle 3"/>
          <p:cNvSpPr/>
          <p:nvPr/>
        </p:nvSpPr>
        <p:spPr>
          <a:xfrm>
            <a:off x="1073150" y="2984500"/>
            <a:ext cx="12700" cy="3302000"/>
          </a:xfrm>
          <a:prstGeom prst="roundRect">
            <a:avLst>
              <a:gd name="adj" fmla="val 50000"/>
            </a:avLst>
          </a:prstGeom>
          <a:solidFill>
            <a:srgbClr val="5D6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89000" y="3175000"/>
            <a:ext cx="381000" cy="381000"/>
          </a:xfrm>
          <a:prstGeom prst="roundRect">
            <a:avLst>
              <a:gd name="adj" fmla="val 3000"/>
            </a:avLst>
          </a:prstGeom>
          <a:solidFill>
            <a:srgbClr val="444652"/>
          </a:solidFill>
          <a:ln w="12700">
            <a:solidFill>
              <a:srgbClr val="5D6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9000" y="2921000"/>
            <a:ext cx="381000" cy="381000"/>
          </a:xfrm>
          <a:prstGeom prst="rect">
            <a:avLst/>
          </a:prstGeom>
          <a:noFill/>
        </p:spPr>
        <p:txBody>
          <a:bodyPr wrap="none" anchor="t" tIns="0" bIns="0" lIns="0" rIns="0">
            <a:spAutoFit/>
          </a:bodyPr>
          <a:lstStyle/>
          <a:p/>
          <a:p>
            <a:pPr algn="ctr">
              <a:defRPr sz="2300">
                <a:solidFill>
                  <a:srgbClr val="D6E5EF"/>
                </a:solidFill>
                <a:latin typeface="Inter"/>
              </a:defRPr>
            </a:pPr>
            <a:r>
              <a:t>1</a:t>
            </a:r>
          </a:p>
        </p:txBody>
      </p:sp>
      <p:sp>
        <p:nvSpPr>
          <p:cNvPr id="7" name="Rounded Rectangle 6"/>
          <p:cNvSpPr/>
          <p:nvPr/>
        </p:nvSpPr>
        <p:spPr>
          <a:xfrm>
            <a:off x="1270000" y="3359150"/>
            <a:ext cx="317500" cy="12700"/>
          </a:xfrm>
          <a:prstGeom prst="roundRect">
            <a:avLst>
              <a:gd name="adj" fmla="val 50000"/>
            </a:avLst>
          </a:prstGeom>
          <a:solidFill>
            <a:srgbClr val="5D6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89000" y="4445000"/>
            <a:ext cx="381000" cy="381000"/>
          </a:xfrm>
          <a:prstGeom prst="roundRect">
            <a:avLst>
              <a:gd name="adj" fmla="val 3000"/>
            </a:avLst>
          </a:prstGeom>
          <a:solidFill>
            <a:srgbClr val="444652"/>
          </a:solidFill>
          <a:ln w="12700">
            <a:solidFill>
              <a:srgbClr val="5D6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9000" y="4178300"/>
            <a:ext cx="381000" cy="381000"/>
          </a:xfrm>
          <a:prstGeom prst="rect">
            <a:avLst/>
          </a:prstGeom>
          <a:noFill/>
        </p:spPr>
        <p:txBody>
          <a:bodyPr wrap="none" anchor="t" tIns="0" bIns="0" lIns="0" rIns="0">
            <a:spAutoFit/>
          </a:bodyPr>
          <a:lstStyle/>
          <a:p/>
          <a:p>
            <a:pPr algn="ctr">
              <a:defRPr sz="2300">
                <a:solidFill>
                  <a:srgbClr val="D6E5EF"/>
                </a:solidFill>
                <a:latin typeface="Inter"/>
              </a:defRPr>
            </a:pPr>
            <a:r>
              <a:t>2</a:t>
            </a:r>
          </a:p>
        </p:txBody>
      </p:sp>
      <p:sp>
        <p:nvSpPr>
          <p:cNvPr id="10" name="Rounded Rectangle 9"/>
          <p:cNvSpPr/>
          <p:nvPr/>
        </p:nvSpPr>
        <p:spPr>
          <a:xfrm>
            <a:off x="1270000" y="4629150"/>
            <a:ext cx="317500" cy="12700"/>
          </a:xfrm>
          <a:prstGeom prst="roundRect">
            <a:avLst>
              <a:gd name="adj" fmla="val 50000"/>
            </a:avLst>
          </a:prstGeom>
          <a:solidFill>
            <a:srgbClr val="5D6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89000" y="5715000"/>
            <a:ext cx="381000" cy="381000"/>
          </a:xfrm>
          <a:prstGeom prst="roundRect">
            <a:avLst>
              <a:gd name="adj" fmla="val 3000"/>
            </a:avLst>
          </a:prstGeom>
          <a:solidFill>
            <a:srgbClr val="444652"/>
          </a:solidFill>
          <a:ln w="12700">
            <a:solidFill>
              <a:srgbClr val="5D6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9000" y="5448300"/>
            <a:ext cx="381000" cy="381000"/>
          </a:xfrm>
          <a:prstGeom prst="rect">
            <a:avLst/>
          </a:prstGeom>
          <a:noFill/>
        </p:spPr>
        <p:txBody>
          <a:bodyPr wrap="none" anchor="t" tIns="0" bIns="0" lIns="0" rIns="0">
            <a:spAutoFit/>
          </a:bodyPr>
          <a:lstStyle/>
          <a:p/>
          <a:p>
            <a:pPr algn="ctr">
              <a:defRPr sz="2300">
                <a:solidFill>
                  <a:srgbClr val="D6E5EF"/>
                </a:solidFill>
                <a:latin typeface="Inter"/>
              </a:defRPr>
            </a:pPr>
            <a:r>
              <a:t>3</a:t>
            </a:r>
          </a:p>
        </p:txBody>
      </p:sp>
      <p:sp>
        <p:nvSpPr>
          <p:cNvPr id="13" name="Rounded Rectangle 12"/>
          <p:cNvSpPr/>
          <p:nvPr/>
        </p:nvSpPr>
        <p:spPr>
          <a:xfrm>
            <a:off x="1270000" y="5899150"/>
            <a:ext cx="317500" cy="12700"/>
          </a:xfrm>
          <a:prstGeom prst="roundRect">
            <a:avLst>
              <a:gd name="adj" fmla="val 50000"/>
            </a:avLst>
          </a:prstGeom>
          <a:solidFill>
            <a:srgbClr val="5D6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05000" y="2984500"/>
            <a:ext cx="6985000" cy="381000"/>
          </a:xfrm>
          <a:prstGeom prst="rect">
            <a:avLst/>
          </a:prstGeom>
          <a:noFill/>
        </p:spPr>
        <p:txBody>
          <a:bodyPr wrap="square" anchor="t">
            <a:spAutoFit/>
          </a:bodyPr>
          <a:lstStyle/>
          <a:p>
            <a:pPr algn="l">
              <a:defRPr sz="2200" b="1" i="0">
                <a:solidFill>
                  <a:srgbClr val="D6E5EF"/>
                </a:solidFill>
                <a:latin typeface="Lora"/>
              </a:defRPr>
            </a:pPr>
            <a:r>
              <a:t>Негізгі ой</a:t>
            </a:r>
          </a:p>
        </p:txBody>
      </p:sp>
      <p:sp>
        <p:nvSpPr>
          <p:cNvPr id="15" name="TextBox 14"/>
          <p:cNvSpPr txBox="1"/>
          <p:nvPr/>
        </p:nvSpPr>
        <p:spPr>
          <a:xfrm>
            <a:off x="1905000" y="3365500"/>
            <a:ext cx="6985000" cy="1143000"/>
          </a:xfrm>
          <a:prstGeom prst="rect">
            <a:avLst/>
          </a:prstGeom>
          <a:noFill/>
        </p:spPr>
        <p:txBody>
          <a:bodyPr wrap="square" anchor="t">
            <a:spAutoFit/>
          </a:bodyPr>
          <a:lstStyle/>
          <a:p>
            <a:pPr algn="l">
              <a:defRPr sz="1800" b="0" i="0">
                <a:solidFill>
                  <a:srgbClr val="D6E5EF"/>
                </a:solidFill>
                <a:latin typeface="Source Sans Pro"/>
              </a:defRPr>
            </a:pPr>
            <a:r>
              <a:t>API авторизациясы — бизнес үшін деректер қауіпсіздігінің негізі. Бұл клиенттер мен деректерді қорғаудың маңызды құралы.</a:t>
            </a:r>
          </a:p>
        </p:txBody>
      </p:sp>
      <p:sp>
        <p:nvSpPr>
          <p:cNvPr id="16" name="TextBox 15"/>
          <p:cNvSpPr txBox="1"/>
          <p:nvPr/>
        </p:nvSpPr>
        <p:spPr>
          <a:xfrm>
            <a:off x="1905000" y="4254500"/>
            <a:ext cx="6985000" cy="381000"/>
          </a:xfrm>
          <a:prstGeom prst="rect">
            <a:avLst/>
          </a:prstGeom>
          <a:noFill/>
        </p:spPr>
        <p:txBody>
          <a:bodyPr wrap="square" anchor="t">
            <a:spAutoFit/>
          </a:bodyPr>
          <a:lstStyle/>
          <a:p>
            <a:pPr algn="l">
              <a:defRPr sz="2200" b="1" i="0">
                <a:solidFill>
                  <a:srgbClr val="D6E5EF"/>
                </a:solidFill>
                <a:latin typeface="Lora"/>
              </a:defRPr>
            </a:pPr>
            <a:r>
              <a:t>Стратегия</a:t>
            </a:r>
          </a:p>
        </p:txBody>
      </p:sp>
      <p:sp>
        <p:nvSpPr>
          <p:cNvPr id="17" name="TextBox 16"/>
          <p:cNvSpPr txBox="1"/>
          <p:nvPr/>
        </p:nvSpPr>
        <p:spPr>
          <a:xfrm>
            <a:off x="1905000" y="4635500"/>
            <a:ext cx="6985000" cy="1143000"/>
          </a:xfrm>
          <a:prstGeom prst="rect">
            <a:avLst/>
          </a:prstGeom>
          <a:noFill/>
        </p:spPr>
        <p:txBody>
          <a:bodyPr wrap="square" anchor="t">
            <a:spAutoFit/>
          </a:bodyPr>
          <a:lstStyle/>
          <a:p>
            <a:pPr algn="l">
              <a:defRPr sz="1800" b="0" i="0">
                <a:solidFill>
                  <a:srgbClr val="D6E5EF"/>
                </a:solidFill>
                <a:latin typeface="Source Sans Pro"/>
              </a:defRPr>
            </a:pPr>
            <a:r>
              <a:t>Дұрыс әдістерді таңдау және оларды тиімді жүзеге асыру сенімді API экожүйесін құруға көмектеседі. Әр бизнеске сәйкес шешім қажет.</a:t>
            </a:r>
          </a:p>
        </p:txBody>
      </p:sp>
      <p:sp>
        <p:nvSpPr>
          <p:cNvPr id="18" name="TextBox 17"/>
          <p:cNvSpPr txBox="1"/>
          <p:nvPr/>
        </p:nvSpPr>
        <p:spPr>
          <a:xfrm>
            <a:off x="1905000" y="5524500"/>
            <a:ext cx="6985000" cy="381000"/>
          </a:xfrm>
          <a:prstGeom prst="rect">
            <a:avLst/>
          </a:prstGeom>
          <a:noFill/>
        </p:spPr>
        <p:txBody>
          <a:bodyPr wrap="square" anchor="t">
            <a:spAutoFit/>
          </a:bodyPr>
          <a:lstStyle/>
          <a:p>
            <a:pPr algn="l">
              <a:defRPr sz="2200" b="1" i="0">
                <a:solidFill>
                  <a:srgbClr val="D6E5EF"/>
                </a:solidFill>
                <a:latin typeface="Lora"/>
              </a:defRPr>
            </a:pPr>
            <a:r>
              <a:t>Болашақ</a:t>
            </a:r>
          </a:p>
        </p:txBody>
      </p:sp>
      <p:sp>
        <p:nvSpPr>
          <p:cNvPr id="19" name="TextBox 18"/>
          <p:cNvSpPr txBox="1"/>
          <p:nvPr/>
        </p:nvSpPr>
        <p:spPr>
          <a:xfrm>
            <a:off x="1905000" y="5905500"/>
            <a:ext cx="6985000" cy="1143000"/>
          </a:xfrm>
          <a:prstGeom prst="rect">
            <a:avLst/>
          </a:prstGeom>
          <a:noFill/>
        </p:spPr>
        <p:txBody>
          <a:bodyPr wrap="square" anchor="t">
            <a:spAutoFit/>
          </a:bodyPr>
          <a:lstStyle/>
          <a:p>
            <a:pPr algn="l">
              <a:defRPr sz="1800" b="0" i="0">
                <a:solidFill>
                  <a:srgbClr val="D6E5EF"/>
                </a:solidFill>
                <a:latin typeface="Source Sans Pro"/>
              </a:defRPr>
            </a:pPr>
            <a:r>
              <a:t>API авторизациясын үнемі жаңартып отыру қазіргі қауіпсіздік талаптарына сай болуды қамтамасыз етеді. Бұл дамудың ажырамас бөлігі.</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52733"/>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9144000" y="0"/>
            <a:ext cx="5486400" cy="8229600"/>
          </a:xfrm>
          <a:prstGeom prst="rect">
            <a:avLst/>
          </a:prstGeom>
        </p:spPr>
      </p:pic>
      <p:sp>
        <p:nvSpPr>
          <p:cNvPr id="3" name="TextBox 2"/>
          <p:cNvSpPr txBox="1"/>
          <p:nvPr/>
        </p:nvSpPr>
        <p:spPr>
          <a:xfrm>
            <a:off x="762000" y="1524000"/>
            <a:ext cx="7543800" cy="1905000"/>
          </a:xfrm>
          <a:prstGeom prst="rect">
            <a:avLst/>
          </a:prstGeom>
          <a:noFill/>
        </p:spPr>
        <p:txBody>
          <a:bodyPr wrap="square" anchor="b">
            <a:spAutoFit/>
          </a:bodyPr>
          <a:lstStyle/>
          <a:p>
            <a:pPr algn="l">
              <a:defRPr sz="4400" b="1" i="0">
                <a:solidFill>
                  <a:srgbClr val="F98AC7"/>
                </a:solidFill>
                <a:latin typeface="Lora"/>
              </a:defRPr>
            </a:pPr>
            <a:r>
              <a:t>Келесі қадамдар</a:t>
            </a:r>
          </a:p>
        </p:txBody>
      </p:sp>
      <p:sp>
        <p:nvSpPr>
          <p:cNvPr id="4" name="TextBox 3"/>
          <p:cNvSpPr txBox="1"/>
          <p:nvPr/>
        </p:nvSpPr>
        <p:spPr>
          <a:xfrm>
            <a:off x="762000" y="3937000"/>
            <a:ext cx="7543800" cy="1803400"/>
          </a:xfrm>
          <a:prstGeom prst="rect">
            <a:avLst/>
          </a:prstGeom>
          <a:noFill/>
        </p:spPr>
        <p:txBody>
          <a:bodyPr wrap="square" anchor="t">
            <a:spAutoFit/>
          </a:bodyPr>
          <a:lstStyle/>
          <a:p>
            <a:pPr algn="l">
              <a:defRPr sz="1800" b="0" i="0">
                <a:solidFill>
                  <a:srgbClr val="D6E5EF"/>
                </a:solidFill>
                <a:latin typeface="Source Sans Pro"/>
              </a:defRPr>
            </a:pPr>
            <a:r>
              <a:t>API авторизациясының маңыздылығын түсіне отырып, бизнестер өздерінің қауіпсіздік стратегияларын бағалауы қажет. API кілттері, OAuth 2.0 және JWT сияқты әдістердің артықшылықтары мен кемшіліктерін ескере отырып, ең қолайлы шешімді таңдау маңызды. Технологиялар мен қауіп-қатерлердің өзгеруіне байланысты авторизация жүйелерін үнемі жаңартып, тексеріп отыру сенімді және қауіпсіз API экожүйесін құруға мүмкіндік береді.</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